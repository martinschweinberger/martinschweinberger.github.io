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5" r:id="rId1"/>
  </p:sldMasterIdLst>
  <p:notesMasterIdLst>
    <p:notesMasterId r:id="rId10"/>
  </p:notesMasterIdLst>
  <p:sldIdLst>
    <p:sldId id="256" r:id="rId2"/>
    <p:sldId id="278" r:id="rId3"/>
    <p:sldId id="310" r:id="rId4"/>
    <p:sldId id="307" r:id="rId5"/>
    <p:sldId id="308" r:id="rId6"/>
    <p:sldId id="309" r:id="rId7"/>
    <p:sldId id="311" r:id="rId8"/>
    <p:sldId id="31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5414" autoAdjust="0"/>
  </p:normalViewPr>
  <p:slideViewPr>
    <p:cSldViewPr snapToGrid="0">
      <p:cViewPr varScale="1">
        <p:scale>
          <a:sx n="98" d="100"/>
          <a:sy n="98" d="100"/>
        </p:scale>
        <p:origin x="78" y="6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/>
              <a:t>Thank you very much for the kind introduction and the chance to draw attention this topic.</a:t>
            </a:r>
            <a:endParaRPr/>
          </a:p>
        </p:txBody>
      </p:sp>
      <p:sp>
        <p:nvSpPr>
          <p:cNvPr id="411" name="Google Shape;4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1806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340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2532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7" name="Google Shape;71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644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4929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4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Half Alt">
  <p:cSld name="Text with Image Half Alt">
    <p:bg>
      <p:bgPr>
        <a:solidFill>
          <a:schemeClr val="accen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>
            <a:spLocks noGrp="1"/>
          </p:cNvSpPr>
          <p:nvPr>
            <p:ph type="pic" idx="2"/>
          </p:nvPr>
        </p:nvSpPr>
        <p:spPr>
          <a:xfrm>
            <a:off x="6102278" y="-2778"/>
            <a:ext cx="6093632" cy="686062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3"/>
          </p:nvPr>
        </p:nvSpPr>
        <p:spPr>
          <a:xfrm>
            <a:off x="695325" y="1700213"/>
            <a:ext cx="5208587" cy="45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­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5208586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646976" y="1716226"/>
            <a:ext cx="10801500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24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>
                <a:solidFill>
                  <a:schemeClr val="accent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>
                <a:solidFill>
                  <a:schemeClr val="accen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>
                <a:solidFill>
                  <a:schemeClr val="accen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2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</a:defRPr>
            </a:lvl1pPr>
            <a:lvl2pPr lvl="1">
              <a:buNone/>
              <a:defRPr sz="1300">
                <a:solidFill>
                  <a:schemeClr val="accent1"/>
                </a:solidFill>
              </a:defRPr>
            </a:lvl2pPr>
            <a:lvl3pPr lvl="2">
              <a:buNone/>
              <a:defRPr sz="1300">
                <a:solidFill>
                  <a:schemeClr val="accent1"/>
                </a:solidFill>
              </a:defRPr>
            </a:lvl3pPr>
            <a:lvl4pPr lvl="3">
              <a:buNone/>
              <a:defRPr sz="1300">
                <a:solidFill>
                  <a:schemeClr val="accent1"/>
                </a:solidFill>
              </a:defRPr>
            </a:lvl4pPr>
            <a:lvl5pPr lvl="4">
              <a:buNone/>
              <a:defRPr sz="1300">
                <a:solidFill>
                  <a:schemeClr val="accent1"/>
                </a:solidFill>
              </a:defRPr>
            </a:lvl5pPr>
            <a:lvl6pPr lvl="5">
              <a:buNone/>
              <a:defRPr sz="1300">
                <a:solidFill>
                  <a:schemeClr val="accent1"/>
                </a:solidFill>
              </a:defRPr>
            </a:lvl6pPr>
            <a:lvl7pPr lvl="6">
              <a:buNone/>
              <a:defRPr sz="1300">
                <a:solidFill>
                  <a:schemeClr val="accent1"/>
                </a:solidFill>
              </a:defRPr>
            </a:lvl7pPr>
            <a:lvl8pPr lvl="7">
              <a:buNone/>
              <a:defRPr sz="1300">
                <a:solidFill>
                  <a:schemeClr val="accent1"/>
                </a:solidFill>
              </a:defRPr>
            </a:lvl8pPr>
            <a:lvl9pPr lvl="8">
              <a:buNone/>
              <a:defRPr sz="13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695325" y="1143405"/>
            <a:ext cx="10738247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695298" y="2553954"/>
            <a:ext cx="10747200" cy="267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" y="4076700"/>
            <a:ext cx="2555875" cy="2781300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912424" y="5571759"/>
            <a:ext cx="2279576" cy="128624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325" y="207631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695325" y="1143405"/>
            <a:ext cx="10728647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695306" y="2553954"/>
            <a:ext cx="10737592" cy="267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2" y="0"/>
            <a:ext cx="12191999" cy="92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49" y="234886"/>
            <a:ext cx="2988000" cy="45258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/>
        </p:nvSpPr>
        <p:spPr>
          <a:xfrm>
            <a:off x="1" y="-1586050"/>
            <a:ext cx="7632171" cy="1384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choose your own image </a:t>
            </a:r>
            <a:b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‘Picture’ is already selected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 to the ‘File’ button and select another 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text colour as necessary to suit the image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" y="4076700"/>
            <a:ext cx="2555875" cy="2781300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912424" y="5571759"/>
            <a:ext cx="2279576" cy="128624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09692" y="275999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695326" y="1700811"/>
            <a:ext cx="10768680" cy="122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1" y="4076700"/>
            <a:ext cx="2555875" cy="2781300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9912424" y="5571759"/>
            <a:ext cx="2279576" cy="128624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Divider (Editable)">
  <p:cSld name="Section Divider (Editable)">
    <p:bg>
      <p:bgPr>
        <a:solidFill>
          <a:schemeClr val="accent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695326" y="1700811"/>
            <a:ext cx="10768680" cy="122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09692" y="275999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95325" y="1700213"/>
            <a:ext cx="5218859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2"/>
          </p:nvPr>
        </p:nvSpPr>
        <p:spPr>
          <a:xfrm>
            <a:off x="6288619" y="1700213"/>
            <a:ext cx="5220000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>
  <p:cSld name="Title, Subtitle &amp;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695326" y="2276872"/>
            <a:ext cx="10801350" cy="403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2"/>
          </p:nvPr>
        </p:nvSpPr>
        <p:spPr>
          <a:xfrm>
            <a:off x="695325" y="1700808"/>
            <a:ext cx="108013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2 Graphs">
  <p:cSld name="Title, Subtitle, 2 Graph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95326" y="2279553"/>
            <a:ext cx="52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marL="914400" lvl="1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accent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­"/>
              <a:defRPr sz="120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2"/>
          </p:nvPr>
        </p:nvSpPr>
        <p:spPr>
          <a:xfrm>
            <a:off x="695326" y="2696388"/>
            <a:ext cx="5220000" cy="361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3"/>
          </p:nvPr>
        </p:nvSpPr>
        <p:spPr>
          <a:xfrm>
            <a:off x="6279511" y="2279553"/>
            <a:ext cx="52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marL="914400" lvl="1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accent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­"/>
              <a:defRPr sz="120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body" idx="4"/>
          </p:nvPr>
        </p:nvSpPr>
        <p:spPr>
          <a:xfrm>
            <a:off x="6279511" y="2696388"/>
            <a:ext cx="5220000" cy="361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body" idx="5"/>
          </p:nvPr>
        </p:nvSpPr>
        <p:spPr>
          <a:xfrm>
            <a:off x="695327" y="1699200"/>
            <a:ext cx="10772776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6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2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 Horizontal">
  <p:cSld name="Two Content Layout Horizontal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body" idx="1"/>
          </p:nvPr>
        </p:nvSpPr>
        <p:spPr>
          <a:xfrm>
            <a:off x="695325" y="1700212"/>
            <a:ext cx="1080135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body" idx="2"/>
          </p:nvPr>
        </p:nvSpPr>
        <p:spPr>
          <a:xfrm>
            <a:off x="695325" y="4149320"/>
            <a:ext cx="1080135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695325" y="1700213"/>
            <a:ext cx="3384342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406607" y="1700213"/>
            <a:ext cx="3384000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3"/>
          </p:nvPr>
        </p:nvSpPr>
        <p:spPr>
          <a:xfrm>
            <a:off x="8112597" y="1700213"/>
            <a:ext cx="3384000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body" idx="4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Third Two Third Title and Content">
  <p:cSld name="One Third Two Third Title and Conte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>
            <a:spLocks noGrp="1"/>
          </p:cNvSpPr>
          <p:nvPr>
            <p:ph type="body" idx="1"/>
          </p:nvPr>
        </p:nvSpPr>
        <p:spPr>
          <a:xfrm>
            <a:off x="4407049" y="1700213"/>
            <a:ext cx="7089626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body" idx="2"/>
          </p:nvPr>
        </p:nvSpPr>
        <p:spPr>
          <a:xfrm>
            <a:off x="695325" y="1698659"/>
            <a:ext cx="3384000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Third One Third Title and Content">
  <p:cSld name="Two Third One Third 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body" idx="1"/>
          </p:nvPr>
        </p:nvSpPr>
        <p:spPr>
          <a:xfrm>
            <a:off x="695326" y="1700213"/>
            <a:ext cx="7092000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2"/>
          </p:nvPr>
        </p:nvSpPr>
        <p:spPr>
          <a:xfrm>
            <a:off x="8112676" y="1700213"/>
            <a:ext cx="3384000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Pullout">
  <p:cSld name="Picture with Pullou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>
            <a:spLocks noGrp="1"/>
          </p:cNvSpPr>
          <p:nvPr>
            <p:ph type="pic" idx="2"/>
          </p:nvPr>
        </p:nvSpPr>
        <p:spPr>
          <a:xfrm>
            <a:off x="0" y="624880"/>
            <a:ext cx="12191999" cy="62331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440000" rIns="180000" bIns="1800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127448" y="1412776"/>
            <a:ext cx="2592288" cy="87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>
            <a:spLocks noGrp="1"/>
          </p:cNvSpPr>
          <p:nvPr>
            <p:ph type="pic" idx="2"/>
          </p:nvPr>
        </p:nvSpPr>
        <p:spPr>
          <a:xfrm>
            <a:off x="695327" y="1700213"/>
            <a:ext cx="10801349" cy="424910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ftr" idx="11"/>
          </p:nvPr>
        </p:nvSpPr>
        <p:spPr>
          <a:xfrm>
            <a:off x="719668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Two Thirds">
  <p:cSld name="Text with Image Two Third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>
            <a:spLocks noGrp="1"/>
          </p:cNvSpPr>
          <p:nvPr>
            <p:ph type="pic" idx="2"/>
          </p:nvPr>
        </p:nvSpPr>
        <p:spPr>
          <a:xfrm>
            <a:off x="4407048" y="630979"/>
            <a:ext cx="7784951" cy="623419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body" idx="1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Half">
  <p:cSld name="Text with Image Half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>
            <a:spLocks noGrp="1"/>
          </p:cNvSpPr>
          <p:nvPr>
            <p:ph type="pic" idx="2"/>
          </p:nvPr>
        </p:nvSpPr>
        <p:spPr>
          <a:xfrm>
            <a:off x="6099776" y="619522"/>
            <a:ext cx="6096132" cy="623832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695326" y="1700213"/>
            <a:ext cx="5208588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5208587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One Third">
  <p:cSld name="Text with Image One Third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>
            <a:spLocks noGrp="1"/>
          </p:cNvSpPr>
          <p:nvPr>
            <p:ph type="pic" idx="2"/>
          </p:nvPr>
        </p:nvSpPr>
        <p:spPr>
          <a:xfrm>
            <a:off x="8127980" y="619866"/>
            <a:ext cx="4065161" cy="62399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1"/>
          </p:nvPr>
        </p:nvSpPr>
        <p:spPr>
          <a:xfrm>
            <a:off x="695326" y="1700213"/>
            <a:ext cx="7089890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708989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Two Thirds Alt">
  <p:cSld name="Text with Image Two Thirds Alt">
    <p:bg>
      <p:bgPr>
        <a:solidFill>
          <a:schemeClr val="accen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>
            <a:spLocks noGrp="1"/>
          </p:cNvSpPr>
          <p:nvPr>
            <p:ph type="pic" idx="2"/>
          </p:nvPr>
        </p:nvSpPr>
        <p:spPr>
          <a:xfrm>
            <a:off x="4409550" y="-3115"/>
            <a:ext cx="7782449" cy="686828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­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right-clicking somewhere on the slide, not in a content placeholder.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‘Format Background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 the ‘Fill’ menu, ‘change ‘Solid fill’ to a colour from the palette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Image One Third Alt">
  <p:cSld name="Text with Image One Third Alt">
    <p:bg>
      <p:bgPr>
        <a:solidFill>
          <a:schemeClr val="accen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0704513" cy="6869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>
            <a:spLocks noGrp="1"/>
          </p:cNvSpPr>
          <p:nvPr>
            <p:ph type="pic" idx="2"/>
          </p:nvPr>
        </p:nvSpPr>
        <p:spPr>
          <a:xfrm>
            <a:off x="8108851" y="-8784"/>
            <a:ext cx="4083149" cy="68686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23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17" name="Google Shape;217;p23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4"/>
          </p:nvPr>
        </p:nvSpPr>
        <p:spPr>
          <a:xfrm>
            <a:off x="695325" y="1700213"/>
            <a:ext cx="7089891" cy="45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­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this slide design, you can change the background colour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Clicking along the edge of purple container and change the shape fill colour.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7096124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4 Images">
  <p:cSld name="Text with 4 Image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>
            <a:spLocks noGrp="1"/>
          </p:cNvSpPr>
          <p:nvPr>
            <p:ph type="pic" idx="2"/>
          </p:nvPr>
        </p:nvSpPr>
        <p:spPr>
          <a:xfrm>
            <a:off x="4407049" y="630978"/>
            <a:ext cx="3888000" cy="28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4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>
            <a:spLocks noGrp="1"/>
          </p:cNvSpPr>
          <p:nvPr>
            <p:ph type="pic" idx="4"/>
          </p:nvPr>
        </p:nvSpPr>
        <p:spPr>
          <a:xfrm>
            <a:off x="4407049" y="3485752"/>
            <a:ext cx="3888000" cy="28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24"/>
          <p:cNvSpPr>
            <a:spLocks noGrp="1"/>
          </p:cNvSpPr>
          <p:nvPr>
            <p:ph type="pic" idx="5"/>
          </p:nvPr>
        </p:nvSpPr>
        <p:spPr>
          <a:xfrm>
            <a:off x="8304000" y="630978"/>
            <a:ext cx="3888000" cy="28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" name="Google Shape;231;p24"/>
          <p:cNvSpPr>
            <a:spLocks noGrp="1"/>
          </p:cNvSpPr>
          <p:nvPr>
            <p:ph type="pic" idx="6"/>
          </p:nvPr>
        </p:nvSpPr>
        <p:spPr>
          <a:xfrm>
            <a:off x="8304000" y="3485752"/>
            <a:ext cx="3888000" cy="28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4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&amp; Images">
  <p:cSld name="Three Column Text &amp; Image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38" name="Google Shape;238;p25"/>
          <p:cNvSpPr>
            <a:spLocks noGrp="1"/>
          </p:cNvSpPr>
          <p:nvPr>
            <p:ph type="pic" idx="2"/>
          </p:nvPr>
        </p:nvSpPr>
        <p:spPr>
          <a:xfrm>
            <a:off x="695326" y="3447000"/>
            <a:ext cx="3384000" cy="28617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" name="Google Shape;239;p25"/>
          <p:cNvSpPr>
            <a:spLocks noGrp="1"/>
          </p:cNvSpPr>
          <p:nvPr>
            <p:ph type="pic" idx="3"/>
          </p:nvPr>
        </p:nvSpPr>
        <p:spPr>
          <a:xfrm>
            <a:off x="4409626" y="3447000"/>
            <a:ext cx="3384000" cy="28617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25"/>
          <p:cNvSpPr>
            <a:spLocks noGrp="1"/>
          </p:cNvSpPr>
          <p:nvPr>
            <p:ph type="pic" idx="4"/>
          </p:nvPr>
        </p:nvSpPr>
        <p:spPr>
          <a:xfrm>
            <a:off x="8112676" y="3446253"/>
            <a:ext cx="3384000" cy="28617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body" idx="1"/>
          </p:nvPr>
        </p:nvSpPr>
        <p:spPr>
          <a:xfrm>
            <a:off x="695325" y="1700212"/>
            <a:ext cx="3384000" cy="172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body" idx="5"/>
          </p:nvPr>
        </p:nvSpPr>
        <p:spPr>
          <a:xfrm>
            <a:off x="4409626" y="1700212"/>
            <a:ext cx="3384000" cy="172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body" idx="6"/>
          </p:nvPr>
        </p:nvSpPr>
        <p:spPr>
          <a:xfrm>
            <a:off x="8112676" y="1700212"/>
            <a:ext cx="3384000" cy="172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25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body" idx="7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25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 &amp; Text">
  <p:cSld name="Icons &amp; 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52" name="Google Shape;252;p26"/>
          <p:cNvSpPr>
            <a:spLocks noGrp="1"/>
          </p:cNvSpPr>
          <p:nvPr>
            <p:ph type="pic" idx="2"/>
          </p:nvPr>
        </p:nvSpPr>
        <p:spPr>
          <a:xfrm>
            <a:off x="1691720" y="1700808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26"/>
          <p:cNvSpPr txBox="1">
            <a:spLocks noGrp="1"/>
          </p:cNvSpPr>
          <p:nvPr>
            <p:ph type="body" idx="1"/>
          </p:nvPr>
        </p:nvSpPr>
        <p:spPr>
          <a:xfrm>
            <a:off x="719668" y="2996952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body" idx="3"/>
          </p:nvPr>
        </p:nvSpPr>
        <p:spPr>
          <a:xfrm>
            <a:off x="719668" y="3228886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body" idx="4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>
            <a:spLocks noGrp="1"/>
          </p:cNvSpPr>
          <p:nvPr>
            <p:ph type="pic" idx="5"/>
          </p:nvPr>
        </p:nvSpPr>
        <p:spPr>
          <a:xfrm>
            <a:off x="5376051" y="1700808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body" idx="6"/>
          </p:nvPr>
        </p:nvSpPr>
        <p:spPr>
          <a:xfrm>
            <a:off x="4403999" y="2996952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body" idx="7"/>
          </p:nvPr>
        </p:nvSpPr>
        <p:spPr>
          <a:xfrm>
            <a:off x="4403999" y="3228886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26"/>
          <p:cNvSpPr>
            <a:spLocks noGrp="1"/>
          </p:cNvSpPr>
          <p:nvPr>
            <p:ph type="pic" idx="8"/>
          </p:nvPr>
        </p:nvSpPr>
        <p:spPr>
          <a:xfrm>
            <a:off x="9063158" y="1700907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body" idx="9"/>
          </p:nvPr>
        </p:nvSpPr>
        <p:spPr>
          <a:xfrm>
            <a:off x="8091106" y="2997051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body" idx="13"/>
          </p:nvPr>
        </p:nvSpPr>
        <p:spPr>
          <a:xfrm>
            <a:off x="8091106" y="3228985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26"/>
          <p:cNvSpPr>
            <a:spLocks noGrp="1"/>
          </p:cNvSpPr>
          <p:nvPr>
            <p:ph type="pic" idx="14"/>
          </p:nvPr>
        </p:nvSpPr>
        <p:spPr>
          <a:xfrm>
            <a:off x="1691720" y="4077242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body" idx="15"/>
          </p:nvPr>
        </p:nvSpPr>
        <p:spPr>
          <a:xfrm>
            <a:off x="719668" y="5373386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26"/>
          <p:cNvSpPr txBox="1">
            <a:spLocks noGrp="1"/>
          </p:cNvSpPr>
          <p:nvPr>
            <p:ph type="body" idx="16"/>
          </p:nvPr>
        </p:nvSpPr>
        <p:spPr>
          <a:xfrm>
            <a:off x="719668" y="560532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26"/>
          <p:cNvSpPr>
            <a:spLocks noGrp="1"/>
          </p:cNvSpPr>
          <p:nvPr>
            <p:ph type="pic" idx="17"/>
          </p:nvPr>
        </p:nvSpPr>
        <p:spPr>
          <a:xfrm>
            <a:off x="5376051" y="4077242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18"/>
          </p:nvPr>
        </p:nvSpPr>
        <p:spPr>
          <a:xfrm>
            <a:off x="4403999" y="5373386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26"/>
          <p:cNvSpPr txBox="1">
            <a:spLocks noGrp="1"/>
          </p:cNvSpPr>
          <p:nvPr>
            <p:ph type="body" idx="19"/>
          </p:nvPr>
        </p:nvSpPr>
        <p:spPr>
          <a:xfrm>
            <a:off x="4403999" y="560532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26"/>
          <p:cNvSpPr>
            <a:spLocks noGrp="1"/>
          </p:cNvSpPr>
          <p:nvPr>
            <p:ph type="pic" idx="20"/>
          </p:nvPr>
        </p:nvSpPr>
        <p:spPr>
          <a:xfrm>
            <a:off x="9063158" y="4077341"/>
            <a:ext cx="1439897" cy="11995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6"/>
          <p:cNvSpPr txBox="1">
            <a:spLocks noGrp="1"/>
          </p:cNvSpPr>
          <p:nvPr>
            <p:ph type="body" idx="21"/>
          </p:nvPr>
        </p:nvSpPr>
        <p:spPr>
          <a:xfrm>
            <a:off x="8091106" y="5373485"/>
            <a:ext cx="3384000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26"/>
          <p:cNvSpPr txBox="1">
            <a:spLocks noGrp="1"/>
          </p:cNvSpPr>
          <p:nvPr>
            <p:ph type="body" idx="22"/>
          </p:nvPr>
        </p:nvSpPr>
        <p:spPr>
          <a:xfrm>
            <a:off x="8091106" y="5605419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26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der">
  <p:cSld name="Order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body" idx="1"/>
          </p:nvPr>
        </p:nvSpPr>
        <p:spPr>
          <a:xfrm>
            <a:off x="1079170" y="1917008"/>
            <a:ext cx="1584308" cy="15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" tIns="72000" rIns="72000" bIns="72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body" idx="2"/>
          </p:nvPr>
        </p:nvSpPr>
        <p:spPr>
          <a:xfrm>
            <a:off x="695326" y="3861048"/>
            <a:ext cx="2351996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3"/>
          </p:nvPr>
        </p:nvSpPr>
        <p:spPr>
          <a:xfrm>
            <a:off x="695326" y="4135186"/>
            <a:ext cx="2351996" cy="15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body" idx="4"/>
          </p:nvPr>
        </p:nvSpPr>
        <p:spPr>
          <a:xfrm>
            <a:off x="3932120" y="1917008"/>
            <a:ext cx="1584308" cy="1584000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72000" tIns="72000" rIns="72000" bIns="72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body" idx="5"/>
          </p:nvPr>
        </p:nvSpPr>
        <p:spPr>
          <a:xfrm>
            <a:off x="3548276" y="3861048"/>
            <a:ext cx="2351996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6"/>
          </p:nvPr>
        </p:nvSpPr>
        <p:spPr>
          <a:xfrm>
            <a:off x="3548276" y="4135186"/>
            <a:ext cx="2351996" cy="15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body" idx="7"/>
          </p:nvPr>
        </p:nvSpPr>
        <p:spPr>
          <a:xfrm>
            <a:off x="6686160" y="1917008"/>
            <a:ext cx="1584308" cy="1584000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72000" tIns="72000" rIns="72000" bIns="72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body" idx="8"/>
          </p:nvPr>
        </p:nvSpPr>
        <p:spPr>
          <a:xfrm>
            <a:off x="6302316" y="3861048"/>
            <a:ext cx="2351996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body" idx="9"/>
          </p:nvPr>
        </p:nvSpPr>
        <p:spPr>
          <a:xfrm>
            <a:off x="6302316" y="4135186"/>
            <a:ext cx="2351996" cy="15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body" idx="13"/>
          </p:nvPr>
        </p:nvSpPr>
        <p:spPr>
          <a:xfrm>
            <a:off x="9514768" y="1917008"/>
            <a:ext cx="1584308" cy="1584000"/>
          </a:xfrm>
          <a:prstGeom prst="rect">
            <a:avLst/>
          </a:prstGeom>
          <a:solidFill>
            <a:srgbClr val="D7D1CC"/>
          </a:solidFill>
          <a:ln>
            <a:noFill/>
          </a:ln>
        </p:spPr>
        <p:txBody>
          <a:bodyPr spcFirstLastPara="1" wrap="square" lIns="72000" tIns="72000" rIns="72000" bIns="720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27"/>
          <p:cNvSpPr txBox="1">
            <a:spLocks noGrp="1"/>
          </p:cNvSpPr>
          <p:nvPr>
            <p:ph type="body" idx="14"/>
          </p:nvPr>
        </p:nvSpPr>
        <p:spPr>
          <a:xfrm>
            <a:off x="9130924" y="3861048"/>
            <a:ext cx="2351996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/>
            </a:lvl2pPr>
            <a:lvl3pPr marL="1371600" lvl="2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27"/>
          <p:cNvSpPr txBox="1">
            <a:spLocks noGrp="1"/>
          </p:cNvSpPr>
          <p:nvPr>
            <p:ph type="body" idx="15"/>
          </p:nvPr>
        </p:nvSpPr>
        <p:spPr>
          <a:xfrm>
            <a:off x="9130924" y="4135186"/>
            <a:ext cx="2351996" cy="15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330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27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Dark Purple Block">
  <p:cSld name="Text with Dark Purple Block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body" idx="1"/>
          </p:nvPr>
        </p:nvSpPr>
        <p:spPr>
          <a:xfrm>
            <a:off x="6096002" y="1700213"/>
            <a:ext cx="5400673" cy="4608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body" idx="2"/>
          </p:nvPr>
        </p:nvSpPr>
        <p:spPr>
          <a:xfrm>
            <a:off x="695326" y="1700213"/>
            <a:ext cx="5197808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28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Purple Block">
  <p:cSld name="Text with Purple Block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body" idx="1"/>
          </p:nvPr>
        </p:nvSpPr>
        <p:spPr>
          <a:xfrm>
            <a:off x="6096002" y="1700212"/>
            <a:ext cx="5400673" cy="4608513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body" idx="2"/>
          </p:nvPr>
        </p:nvSpPr>
        <p:spPr>
          <a:xfrm>
            <a:off x="694800" y="1700212"/>
            <a:ext cx="5209113" cy="460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9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29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Neutral 1 Block">
  <p:cSld name="Text with Neutral 1 Block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6096003" y="1700213"/>
            <a:ext cx="5400672" cy="4608515"/>
          </a:xfrm>
          <a:prstGeom prst="rect">
            <a:avLst/>
          </a:prstGeom>
          <a:solidFill>
            <a:srgbClr val="D7D1C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694800" y="1700213"/>
            <a:ext cx="5209113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30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30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Neutral 2 Block">
  <p:cSld name="Text with Neutral 2 Block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body" idx="1"/>
          </p:nvPr>
        </p:nvSpPr>
        <p:spPr>
          <a:xfrm>
            <a:off x="6096002" y="1700213"/>
            <a:ext cx="5400673" cy="4608512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1"/>
          <p:cNvSpPr txBox="1">
            <a:spLocks noGrp="1"/>
          </p:cNvSpPr>
          <p:nvPr>
            <p:ph type="body" idx="2"/>
          </p:nvPr>
        </p:nvSpPr>
        <p:spPr>
          <a:xfrm>
            <a:off x="694800" y="1700212"/>
            <a:ext cx="5209113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1"/>
          <p:cNvSpPr txBox="1">
            <a:spLocks noGrp="1"/>
          </p:cNvSpPr>
          <p:nvPr>
            <p:ph type="body" idx="3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1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ullouts">
  <p:cSld name="Three Pullouts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>
            <a:spLocks noGrp="1"/>
          </p:cNvSpPr>
          <p:nvPr>
            <p:ph type="body" idx="1"/>
          </p:nvPr>
        </p:nvSpPr>
        <p:spPr>
          <a:xfrm>
            <a:off x="8112127" y="1700213"/>
            <a:ext cx="3384548" cy="4615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0000" tIns="108000" rIns="180000" bIns="1800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2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2"/>
          <p:cNvSpPr txBox="1">
            <a:spLocks noGrp="1"/>
          </p:cNvSpPr>
          <p:nvPr>
            <p:ph type="body" idx="2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32"/>
          <p:cNvSpPr txBox="1">
            <a:spLocks noGrp="1"/>
          </p:cNvSpPr>
          <p:nvPr>
            <p:ph type="body" idx="3"/>
          </p:nvPr>
        </p:nvSpPr>
        <p:spPr>
          <a:xfrm>
            <a:off x="695328" y="1700213"/>
            <a:ext cx="3384548" cy="4615710"/>
          </a:xfrm>
          <a:prstGeom prst="rect">
            <a:avLst/>
          </a:prstGeom>
          <a:solidFill>
            <a:srgbClr val="962A8B"/>
          </a:solidFill>
          <a:ln>
            <a:noFill/>
          </a:ln>
        </p:spPr>
        <p:txBody>
          <a:bodyPr spcFirstLastPara="1" wrap="square" lIns="180000" tIns="108000" rIns="180000" bIns="1800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32"/>
          <p:cNvSpPr txBox="1">
            <a:spLocks noGrp="1"/>
          </p:cNvSpPr>
          <p:nvPr>
            <p:ph type="body" idx="4"/>
          </p:nvPr>
        </p:nvSpPr>
        <p:spPr>
          <a:xfrm>
            <a:off x="4387255" y="1692905"/>
            <a:ext cx="3384548" cy="4615710"/>
          </a:xfrm>
          <a:prstGeom prst="rect">
            <a:avLst/>
          </a:prstGeom>
          <a:solidFill>
            <a:srgbClr val="999490"/>
          </a:solidFill>
          <a:ln>
            <a:noFill/>
          </a:ln>
        </p:spPr>
        <p:txBody>
          <a:bodyPr spcFirstLastPara="1" wrap="square" lIns="180000" tIns="108000" rIns="180000" bIns="18000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32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layout 1">
  <p:cSld name="Multi-layout 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body" idx="1"/>
          </p:nvPr>
        </p:nvSpPr>
        <p:spPr>
          <a:xfrm>
            <a:off x="694800" y="3593712"/>
            <a:ext cx="5198533" cy="2715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body" idx="2"/>
          </p:nvPr>
        </p:nvSpPr>
        <p:spPr>
          <a:xfrm>
            <a:off x="6288618" y="2024810"/>
            <a:ext cx="5198400" cy="242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body" idx="3"/>
          </p:nvPr>
        </p:nvSpPr>
        <p:spPr>
          <a:xfrm>
            <a:off x="6288619" y="4602158"/>
            <a:ext cx="5198533" cy="170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body" idx="4"/>
          </p:nvPr>
        </p:nvSpPr>
        <p:spPr>
          <a:xfrm>
            <a:off x="694800" y="1700808"/>
            <a:ext cx="5198532" cy="1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body" idx="5"/>
          </p:nvPr>
        </p:nvSpPr>
        <p:spPr>
          <a:xfrm>
            <a:off x="6288619" y="1700809"/>
            <a:ext cx="5198533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33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33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3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54" name="Google Shape;354;p33"/>
          <p:cNvSpPr txBox="1">
            <a:spLocks noGrp="1"/>
          </p:cNvSpPr>
          <p:nvPr>
            <p:ph type="body" idx="6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33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layout 2">
  <p:cSld name="Multi-layout 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60" name="Google Shape;360;p34"/>
          <p:cNvSpPr txBox="1">
            <a:spLocks noGrp="1"/>
          </p:cNvSpPr>
          <p:nvPr>
            <p:ph type="body" idx="1"/>
          </p:nvPr>
        </p:nvSpPr>
        <p:spPr>
          <a:xfrm>
            <a:off x="6286500" y="2677684"/>
            <a:ext cx="5219998" cy="161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4"/>
          <p:cNvSpPr txBox="1">
            <a:spLocks noGrp="1"/>
          </p:cNvSpPr>
          <p:nvPr>
            <p:ph type="body" idx="2"/>
          </p:nvPr>
        </p:nvSpPr>
        <p:spPr>
          <a:xfrm>
            <a:off x="6286500" y="4694142"/>
            <a:ext cx="5219996" cy="161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body" idx="3"/>
          </p:nvPr>
        </p:nvSpPr>
        <p:spPr>
          <a:xfrm>
            <a:off x="6286500" y="2279659"/>
            <a:ext cx="5222136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34"/>
          <p:cNvSpPr txBox="1">
            <a:spLocks noGrp="1"/>
          </p:cNvSpPr>
          <p:nvPr>
            <p:ph type="body" idx="4"/>
          </p:nvPr>
        </p:nvSpPr>
        <p:spPr>
          <a:xfrm>
            <a:off x="6286500" y="4401144"/>
            <a:ext cx="5222136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34"/>
          <p:cNvSpPr txBox="1">
            <a:spLocks noGrp="1"/>
          </p:cNvSpPr>
          <p:nvPr>
            <p:ph type="body" idx="5"/>
          </p:nvPr>
        </p:nvSpPr>
        <p:spPr>
          <a:xfrm>
            <a:off x="694800" y="2279196"/>
            <a:ext cx="5183717" cy="201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34"/>
          <p:cNvSpPr txBox="1">
            <a:spLocks noGrp="1"/>
          </p:cNvSpPr>
          <p:nvPr>
            <p:ph type="body" idx="6"/>
          </p:nvPr>
        </p:nvSpPr>
        <p:spPr>
          <a:xfrm>
            <a:off x="694800" y="4401144"/>
            <a:ext cx="5183717" cy="19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34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4"/>
          <p:cNvSpPr txBox="1">
            <a:spLocks noGrp="1"/>
          </p:cNvSpPr>
          <p:nvPr>
            <p:ph type="body" idx="7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34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4"/>
          <p:cNvSpPr txBox="1">
            <a:spLocks noGrp="1"/>
          </p:cNvSpPr>
          <p:nvPr>
            <p:ph type="body" idx="8"/>
          </p:nvPr>
        </p:nvSpPr>
        <p:spPr>
          <a:xfrm>
            <a:off x="695325" y="1700808"/>
            <a:ext cx="108013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5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5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4400550" y="6524625"/>
            <a:ext cx="3384667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 b="1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35"/>
          <p:cNvSpPr/>
          <p:nvPr/>
        </p:nvSpPr>
        <p:spPr>
          <a:xfrm flipH="1">
            <a:off x="0" y="0"/>
            <a:ext cx="12192000" cy="630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7935" y="152896"/>
            <a:ext cx="1210684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randed">
  <p:cSld name="Blank Branded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/>
          <p:nvPr/>
        </p:nvSpPr>
        <p:spPr>
          <a:xfrm>
            <a:off x="2" y="-27384"/>
            <a:ext cx="12191999" cy="1008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71272" y="152896"/>
            <a:ext cx="1237347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>
            <a:spLocks noGrp="1"/>
          </p:cNvSpPr>
          <p:nvPr>
            <p:ph type="title"/>
          </p:nvPr>
        </p:nvSpPr>
        <p:spPr>
          <a:xfrm>
            <a:off x="694800" y="1082188"/>
            <a:ext cx="10744005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body" idx="1"/>
          </p:nvPr>
        </p:nvSpPr>
        <p:spPr>
          <a:xfrm>
            <a:off x="694800" y="1876346"/>
            <a:ext cx="3254263" cy="83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body" idx="2"/>
          </p:nvPr>
        </p:nvSpPr>
        <p:spPr>
          <a:xfrm>
            <a:off x="1087509" y="2852939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body" idx="3"/>
          </p:nvPr>
        </p:nvSpPr>
        <p:spPr>
          <a:xfrm>
            <a:off x="1087509" y="3125021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1" y="4076700"/>
            <a:ext cx="2555875" cy="2781300"/>
          </a:xfrm>
          <a:custGeom>
            <a:avLst/>
            <a:gdLst/>
            <a:ahLst/>
            <a:cxnLst/>
            <a:rect l="l" t="t" r="r" b="b"/>
            <a:pathLst>
              <a:path w="2555875" h="2781300" extrusionOk="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7"/>
          <p:cNvSpPr txBox="1">
            <a:spLocks noGrp="1"/>
          </p:cNvSpPr>
          <p:nvPr>
            <p:ph type="body" idx="4"/>
          </p:nvPr>
        </p:nvSpPr>
        <p:spPr>
          <a:xfrm>
            <a:off x="1087509" y="3415094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37"/>
          <p:cNvSpPr txBox="1">
            <a:spLocks noGrp="1"/>
          </p:cNvSpPr>
          <p:nvPr>
            <p:ph type="body" idx="5"/>
          </p:nvPr>
        </p:nvSpPr>
        <p:spPr>
          <a:xfrm>
            <a:off x="1087509" y="3687176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6"/>
          </p:nvPr>
        </p:nvSpPr>
        <p:spPr>
          <a:xfrm>
            <a:off x="1087509" y="3957493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9912424" y="5571759"/>
            <a:ext cx="2279576" cy="1286241"/>
          </a:xfrm>
          <a:custGeom>
            <a:avLst/>
            <a:gdLst/>
            <a:ahLst/>
            <a:cxnLst/>
            <a:rect l="l" t="t" r="r" b="b"/>
            <a:pathLst>
              <a:path w="1704975" h="962025" extrusionOk="0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325" y="207631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2">
  <p:cSld name="Thank You 2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/>
          <p:nvPr/>
        </p:nvSpPr>
        <p:spPr>
          <a:xfrm>
            <a:off x="0" y="0"/>
            <a:ext cx="12192000" cy="9288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8"/>
          <p:cNvSpPr txBox="1">
            <a:spLocks noGrp="1"/>
          </p:cNvSpPr>
          <p:nvPr>
            <p:ph type="body" idx="1"/>
          </p:nvPr>
        </p:nvSpPr>
        <p:spPr>
          <a:xfrm>
            <a:off x="694800" y="1876346"/>
            <a:ext cx="3254263" cy="83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38"/>
          <p:cNvSpPr txBox="1">
            <a:spLocks noGrp="1"/>
          </p:cNvSpPr>
          <p:nvPr>
            <p:ph type="body" idx="2"/>
          </p:nvPr>
        </p:nvSpPr>
        <p:spPr>
          <a:xfrm>
            <a:off x="1087509" y="2852939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3"/>
          </p:nvPr>
        </p:nvSpPr>
        <p:spPr>
          <a:xfrm>
            <a:off x="1087509" y="3125021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38"/>
          <p:cNvSpPr txBox="1">
            <a:spLocks noGrp="1"/>
          </p:cNvSpPr>
          <p:nvPr>
            <p:ph type="body" idx="4"/>
          </p:nvPr>
        </p:nvSpPr>
        <p:spPr>
          <a:xfrm>
            <a:off x="1087509" y="3415094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38"/>
          <p:cNvSpPr txBox="1">
            <a:spLocks noGrp="1"/>
          </p:cNvSpPr>
          <p:nvPr>
            <p:ph type="body" idx="5"/>
          </p:nvPr>
        </p:nvSpPr>
        <p:spPr>
          <a:xfrm>
            <a:off x="1087509" y="3687176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38"/>
          <p:cNvSpPr txBox="1">
            <a:spLocks noGrp="1"/>
          </p:cNvSpPr>
          <p:nvPr>
            <p:ph type="body" idx="6"/>
          </p:nvPr>
        </p:nvSpPr>
        <p:spPr>
          <a:xfrm>
            <a:off x="1087509" y="3957493"/>
            <a:ext cx="3418763" cy="20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57894"/>
              </a:lnSpc>
              <a:spcBef>
                <a:spcPts val="300"/>
              </a:spcBef>
              <a:spcAft>
                <a:spcPts val="0"/>
              </a:spcAft>
              <a:buSzPts val="950"/>
              <a:buNone/>
              <a:defRPr sz="95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38"/>
          <p:cNvSpPr txBox="1">
            <a:spLocks noGrp="1"/>
          </p:cNvSpPr>
          <p:nvPr>
            <p:ph type="title"/>
          </p:nvPr>
        </p:nvSpPr>
        <p:spPr>
          <a:xfrm>
            <a:off x="694800" y="1082188"/>
            <a:ext cx="5209113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8"/>
          <p:cNvSpPr>
            <a:spLocks noGrp="1"/>
          </p:cNvSpPr>
          <p:nvPr>
            <p:ph type="pic" idx="7"/>
          </p:nvPr>
        </p:nvSpPr>
        <p:spPr>
          <a:xfrm>
            <a:off x="6092454" y="923051"/>
            <a:ext cx="6101952" cy="593479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7" name="Google Shape;40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325" y="207631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12192000" cy="928800"/>
          </a:xfrm>
          <a:prstGeom prst="rect">
            <a:avLst/>
          </a:prstGeom>
          <a:gradFill>
            <a:gsLst>
              <a:gs pos="0">
                <a:schemeClr val="accent1"/>
              </a:gs>
              <a:gs pos="75000">
                <a:schemeClr val="accent1"/>
              </a:gs>
              <a:gs pos="100000">
                <a:srgbClr val="962A8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-4"/>
          <a:stretch/>
        </p:blipFill>
        <p:spPr>
          <a:xfrm>
            <a:off x="9852228" y="5499893"/>
            <a:ext cx="2339772" cy="135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695325" y="1160745"/>
            <a:ext cx="10738247" cy="129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rial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695298" y="2571294"/>
            <a:ext cx="10747200" cy="267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­"/>
              <a:defRPr/>
            </a:lvl3pPr>
            <a:lvl4pPr marL="1828800" lvl="3" indent="-3429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-2"/>
          <a:stretch/>
        </p:blipFill>
        <p:spPr>
          <a:xfrm>
            <a:off x="1" y="4064704"/>
            <a:ext cx="2699772" cy="279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" y="207631"/>
            <a:ext cx="3204000" cy="4724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</a:defRPr>
            </a:lvl1pPr>
            <a:lvl2pPr lvl="1">
              <a:buNone/>
              <a:defRPr sz="1300">
                <a:solidFill>
                  <a:schemeClr val="accent1"/>
                </a:solidFill>
              </a:defRPr>
            </a:lvl2pPr>
            <a:lvl3pPr lvl="2">
              <a:buNone/>
              <a:defRPr sz="1300">
                <a:solidFill>
                  <a:schemeClr val="accent1"/>
                </a:solidFill>
              </a:defRPr>
            </a:lvl3pPr>
            <a:lvl4pPr lvl="3">
              <a:buNone/>
              <a:defRPr sz="1300">
                <a:solidFill>
                  <a:schemeClr val="accent1"/>
                </a:solidFill>
              </a:defRPr>
            </a:lvl4pPr>
            <a:lvl5pPr lvl="4">
              <a:buNone/>
              <a:defRPr sz="1300">
                <a:solidFill>
                  <a:schemeClr val="accent1"/>
                </a:solidFill>
              </a:defRPr>
            </a:lvl5pPr>
            <a:lvl6pPr lvl="5">
              <a:buNone/>
              <a:defRPr sz="1300">
                <a:solidFill>
                  <a:schemeClr val="accent1"/>
                </a:solidFill>
              </a:defRPr>
            </a:lvl6pPr>
            <a:lvl7pPr lvl="6">
              <a:buNone/>
              <a:defRPr sz="1300">
                <a:solidFill>
                  <a:schemeClr val="accent1"/>
                </a:solidFill>
              </a:defRPr>
            </a:lvl7pPr>
            <a:lvl8pPr lvl="7">
              <a:buNone/>
              <a:defRPr sz="1300">
                <a:solidFill>
                  <a:schemeClr val="accent1"/>
                </a:solidFill>
              </a:defRPr>
            </a:lvl8pPr>
            <a:lvl9pPr lvl="8">
              <a:buNone/>
              <a:defRPr sz="13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9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rial"/>
              <a:buNone/>
              <a:defRPr sz="3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95326" y="1700213"/>
            <a:ext cx="10801349" cy="460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695325" y="151136"/>
            <a:ext cx="33845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6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8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663">
          <p15:clr>
            <a:srgbClr val="F26B43"/>
          </p15:clr>
        </p15:guide>
        <p15:guide id="6" pos="3961">
          <p15:clr>
            <a:srgbClr val="F26B43"/>
          </p15:clr>
        </p15:guide>
        <p15:guide id="7" pos="3719">
          <p15:clr>
            <a:srgbClr val="F26B43"/>
          </p15:clr>
        </p15:guide>
        <p15:guide id="8" orient="horz" pos="4110">
          <p15:clr>
            <a:srgbClr val="F26B43"/>
          </p15:clr>
        </p15:guide>
        <p15:guide id="9" pos="7242">
          <p15:clr>
            <a:srgbClr val="F26B43"/>
          </p15:clr>
        </p15:guide>
        <p15:guide id="10" orient="horz" pos="981">
          <p15:clr>
            <a:srgbClr val="F26B43"/>
          </p15:clr>
        </p15:guide>
        <p15:guide id="11" pos="2772">
          <p15:clr>
            <a:srgbClr val="F26B43"/>
          </p15:clr>
        </p15:guide>
        <p15:guide id="12" pos="2570">
          <p15:clr>
            <a:srgbClr val="F26B43"/>
          </p15:clr>
        </p15:guide>
        <p15:guide id="13" pos="5110">
          <p15:clr>
            <a:srgbClr val="F26B43"/>
          </p15:clr>
        </p15:guide>
        <p15:guide id="14" pos="4908">
          <p15:clr>
            <a:srgbClr val="F26B43"/>
          </p15:clr>
        </p15:guide>
        <p15:guide id="15" orient="horz" pos="107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/>
          <p:nvPr/>
        </p:nvSpPr>
        <p:spPr>
          <a:xfrm>
            <a:off x="370704" y="1351005"/>
            <a:ext cx="11475308" cy="3838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80000"/>
              </a:lnSpc>
              <a:buClr>
                <a:schemeClr val="accent1"/>
              </a:buClr>
              <a:buSzPts val="2800"/>
            </a:pPr>
            <a:r>
              <a:rPr lang="en-US" sz="2800" b="1" dirty="0">
                <a:solidFill>
                  <a:schemeClr val="accent1"/>
                </a:solidFill>
              </a:rPr>
              <a:t>Text Analytics with</a:t>
            </a:r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800" b="1" dirty="0">
                <a:solidFill>
                  <a:schemeClr val="accent1"/>
                </a:solidFill>
              </a:rPr>
              <a:t>Language Technology and Data Analysis Laboratory Resources: an introduction to free, open-source interactive resources for linguists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endParaRPr lang="en-AU" sz="24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AU" sz="2400" dirty="0">
                <a:solidFill>
                  <a:schemeClr val="accent1"/>
                </a:solidFill>
              </a:rPr>
              <a:t>Martin Schweinberger</a:t>
            </a:r>
            <a:endParaRPr sz="1600" dirty="0">
              <a:solidFill>
                <a:schemeClr val="accent1"/>
              </a:solidFill>
            </a:endParaRPr>
          </a:p>
        </p:txBody>
      </p:sp>
      <p:pic>
        <p:nvPicPr>
          <p:cNvPr id="414" name="Google Shape;41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2681" y="1016286"/>
            <a:ext cx="3391386" cy="1908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1243" y="6139754"/>
            <a:ext cx="1112894" cy="5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257433" y="2463688"/>
            <a:ext cx="5838567" cy="299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</a:pPr>
            <a:r>
              <a:rPr lang="en-AU" sz="2000" b="1" dirty="0"/>
              <a:t>LADAL: </a:t>
            </a:r>
            <a:br>
              <a:rPr lang="en-AU" sz="2000" b="1" dirty="0"/>
            </a:br>
            <a:r>
              <a:rPr lang="en-AU" sz="2000" b="1" dirty="0"/>
              <a:t>Language Technology and Data Analysis Laboratory</a:t>
            </a:r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</a:pPr>
            <a:r>
              <a:rPr lang="en-AU" sz="2000" b="1" dirty="0"/>
              <a:t>Collaborative, cloud-based workbench environment, bringing together users and providers of data and text analytics tools. It will support researchers transitioning to code-based text analysis, with the resultant benefits of flexibility, reproducibility and reuse. </a:t>
            </a:r>
            <a:endParaRPr lang="en-AU" sz="2100" b="1" dirty="0"/>
          </a:p>
        </p:txBody>
      </p:sp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5CB8B-5DD8-AA26-9487-C2C5D3AA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3" y="5278372"/>
            <a:ext cx="3424882" cy="1317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77645C-7FAD-5A2C-53D3-2C51851B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796" y="5460833"/>
            <a:ext cx="1679976" cy="1055322"/>
          </a:xfrm>
          <a:prstGeom prst="rect">
            <a:avLst/>
          </a:prstGeom>
        </p:spPr>
      </p:pic>
      <p:pic>
        <p:nvPicPr>
          <p:cNvPr id="2" name="Google Shape;414;p39">
            <a:extLst>
              <a:ext uri="{FF2B5EF4-FFF2-40B4-BE49-F238E27FC236}">
                <a16:creationId xmlns:a16="http://schemas.microsoft.com/office/drawing/2014/main" id="{0CCF478D-B267-5B74-540C-47F3745446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7447" y="1234562"/>
            <a:ext cx="2319512" cy="11630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697;p61">
            <a:extLst>
              <a:ext uri="{FF2B5EF4-FFF2-40B4-BE49-F238E27FC236}">
                <a16:creationId xmlns:a16="http://schemas.microsoft.com/office/drawing/2014/main" id="{D447069A-72A6-E3CE-3F92-19AF711BEA4B}"/>
              </a:ext>
            </a:extLst>
          </p:cNvPr>
          <p:cNvSpPr txBox="1">
            <a:spLocks/>
          </p:cNvSpPr>
          <p:nvPr/>
        </p:nvSpPr>
        <p:spPr>
          <a:xfrm>
            <a:off x="6095999" y="1012179"/>
            <a:ext cx="6044746" cy="42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­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1200"/>
              </a:spcBef>
              <a:buSzPts val="1665"/>
            </a:pPr>
            <a:r>
              <a:rPr lang="en-AU" sz="2000" dirty="0"/>
              <a:t>Aim to </a:t>
            </a:r>
            <a:r>
              <a:rPr lang="en-AU" sz="2000" b="1" dirty="0"/>
              <a:t>develop computational HASS infrastructure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SzPts val="1665"/>
              <a:buFont typeface="Arial" panose="020B0604020202020204" pitchFamily="34" charset="0"/>
              <a:buChar char="•"/>
            </a:pPr>
            <a:r>
              <a:rPr lang="en-AU" sz="2000" b="1" dirty="0"/>
              <a:t>Collation of projects </a:t>
            </a:r>
            <a:r>
              <a:rPr lang="en-AU" sz="2000" dirty="0"/>
              <a:t>(UQ: LADAL | </a:t>
            </a:r>
            <a:r>
              <a:rPr lang="en-AU" sz="2000" dirty="0" err="1"/>
              <a:t>USyd</a:t>
            </a:r>
            <a:r>
              <a:rPr lang="en-AU" sz="2000" dirty="0"/>
              <a:t>: SCL)</a:t>
            </a:r>
            <a:br>
              <a:rPr lang="en-AU" sz="2000" dirty="0"/>
            </a:br>
            <a:r>
              <a:rPr lang="en-AU" sz="2000" dirty="0"/>
              <a:t>(diversity of audiences, needs, and approaches)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SzPts val="1665"/>
              <a:buFont typeface="Arial" panose="020B0604020202020204" pitchFamily="34" charset="0"/>
              <a:buChar char="•"/>
            </a:pPr>
            <a:r>
              <a:rPr lang="en-AU" sz="2000" b="1" dirty="0"/>
              <a:t>Development of resources </a:t>
            </a:r>
            <a:br>
              <a:rPr lang="en-AU" sz="2000" b="1" dirty="0"/>
            </a:br>
            <a:r>
              <a:rPr lang="en-AU" sz="2000" dirty="0"/>
              <a:t>(&gt; 30 tutorials, 15 interactive notebooks)</a:t>
            </a:r>
            <a:br>
              <a:rPr lang="en-AU" sz="2000" b="1" dirty="0"/>
            </a:br>
            <a:r>
              <a:rPr lang="en-AU" sz="2000" dirty="0"/>
              <a:t>(websites, tools, static and interactive notebooks)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SzPts val="1665"/>
              <a:buFont typeface="Arial" panose="020B0604020202020204" pitchFamily="34" charset="0"/>
              <a:buChar char="•"/>
            </a:pPr>
            <a:r>
              <a:rPr lang="en-AU" sz="2000" b="1" dirty="0"/>
              <a:t>Upskilling </a:t>
            </a:r>
            <a:r>
              <a:rPr lang="en-AU" sz="2000" dirty="0"/>
              <a:t>|</a:t>
            </a:r>
            <a:r>
              <a:rPr lang="en-AU" sz="2000" b="1" dirty="0"/>
              <a:t> engagement</a:t>
            </a:r>
            <a:br>
              <a:rPr lang="en-AU" sz="2000" b="1" dirty="0"/>
            </a:br>
            <a:r>
              <a:rPr lang="en-AU" sz="2000" dirty="0"/>
              <a:t>(workshops, seminars, trainings)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SzPts val="1665"/>
              <a:buFont typeface="Arial" panose="020B0604020202020204" pitchFamily="34" charset="0"/>
              <a:buChar char="•"/>
            </a:pPr>
            <a:r>
              <a:rPr lang="en-AU" sz="2000" b="1" dirty="0"/>
              <a:t>Continuing support </a:t>
            </a:r>
            <a:r>
              <a:rPr lang="en-AU" sz="2000" dirty="0"/>
              <a:t>(consultation and 1:1 support)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SzPts val="1665"/>
              <a:buFont typeface="Arial" panose="020B0604020202020204" pitchFamily="34" charset="0"/>
              <a:buChar char="•"/>
            </a:pPr>
            <a:r>
              <a:rPr lang="en-AU" sz="2000" dirty="0"/>
              <a:t>Generating </a:t>
            </a:r>
            <a:r>
              <a:rPr lang="en-AU" sz="2000" b="1" dirty="0"/>
              <a:t>vectors</a:t>
            </a:r>
            <a:r>
              <a:rPr lang="en-AU" sz="2000" dirty="0"/>
              <a:t> (educators and fellows)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59BB3E-7C43-2AA8-19C0-2295C8281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075" y="5477221"/>
            <a:ext cx="4263990" cy="919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646975" y="1717876"/>
            <a:ext cx="10524624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dirty="0"/>
              <a:t>Free, open-source </a:t>
            </a:r>
            <a:r>
              <a:rPr lang="en-AU" sz="2020" dirty="0" err="1"/>
              <a:t>eResearch</a:t>
            </a:r>
            <a:r>
              <a:rPr lang="en-AU" sz="2020" dirty="0"/>
              <a:t> support infrastructure for </a:t>
            </a:r>
            <a:br>
              <a:rPr lang="en-AU" sz="2020" dirty="0"/>
            </a:br>
            <a:r>
              <a:rPr lang="en-AU" sz="2020" dirty="0"/>
              <a:t>computational HASS in the UQ School of Languages and </a:t>
            </a:r>
            <a:br>
              <a:rPr lang="en-AU" sz="2020" dirty="0"/>
            </a:br>
            <a:r>
              <a:rPr lang="en-AU" sz="2020" dirty="0"/>
              <a:t>Cultures</a:t>
            </a:r>
            <a:endParaRPr sz="2020" dirty="0"/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Aim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/>
              <a:t>provide (notebook-based) resources for computational HASS</a:t>
            </a:r>
            <a:br>
              <a:rPr lang="en-AU" sz="2020" dirty="0"/>
            </a:br>
            <a:r>
              <a:rPr lang="en-AU" sz="2020" dirty="0"/>
              <a:t>(website tutorials and case studies, interactive notebooks, </a:t>
            </a:r>
            <a:br>
              <a:rPr lang="en-AU" sz="2020" dirty="0"/>
            </a:br>
            <a:r>
              <a:rPr lang="en-AU" sz="2020" dirty="0"/>
              <a:t>links, information, etc.)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/>
              <a:t>organize events and community building (webinars, workshops, etc.) </a:t>
            </a:r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People</a:t>
            </a:r>
            <a:endParaRPr sz="2020" b="1" dirty="0"/>
          </a:p>
          <a:p>
            <a:pPr marL="457200" marR="0" lvl="0" indent="-298132" algn="l" rtl="0">
              <a:lnSpc>
                <a:spcPct val="130000"/>
              </a:lnSpc>
              <a:spcAft>
                <a:spcPts val="0"/>
              </a:spcAft>
              <a:buSzPts val="1095"/>
              <a:buChar char="•"/>
            </a:pPr>
            <a:r>
              <a:rPr lang="en-AU" sz="2100" dirty="0"/>
              <a:t>Directors: Martin Schweinberger &amp; Michael Haugh</a:t>
            </a:r>
          </a:p>
          <a:p>
            <a:pPr marL="457200" marR="0" lvl="0" indent="-298132" algn="l" rtl="0">
              <a:lnSpc>
                <a:spcPct val="130000"/>
              </a:lnSpc>
              <a:spcAft>
                <a:spcPts val="0"/>
              </a:spcAft>
              <a:buSzPts val="1095"/>
              <a:buChar char="•"/>
            </a:pPr>
            <a:r>
              <a:rPr lang="en-AU" sz="2020" dirty="0"/>
              <a:t>Contributors: Sam Hames, Ben Foley plus various international experts</a:t>
            </a:r>
            <a:endParaRPr sz="2020" dirty="0"/>
          </a:p>
        </p:txBody>
      </p:sp>
      <p:sp>
        <p:nvSpPr>
          <p:cNvPr id="698" name="Google Shape;698;p61"/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  <p:pic>
        <p:nvPicPr>
          <p:cNvPr id="699" name="Google Shape;69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8820" y="1548967"/>
            <a:ext cx="4867102" cy="192338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  <p:sp>
        <p:nvSpPr>
          <p:cNvPr id="705" name="Google Shape;705;p61"/>
          <p:cNvSpPr txBox="1"/>
          <p:nvPr/>
        </p:nvSpPr>
        <p:spPr>
          <a:xfrm>
            <a:off x="8765679" y="3939653"/>
            <a:ext cx="1824645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 dirty="0">
                <a:solidFill>
                  <a:schemeClr val="accent1"/>
                </a:solidFill>
              </a:rPr>
              <a:t>Michael Haugh </a:t>
            </a:r>
            <a:br>
              <a:rPr lang="en-AU" sz="1500" dirty="0">
                <a:solidFill>
                  <a:schemeClr val="accent1"/>
                </a:solidFill>
              </a:rPr>
            </a:br>
            <a:r>
              <a:rPr lang="en-AU" sz="1500" dirty="0">
                <a:solidFill>
                  <a:schemeClr val="accent1"/>
                </a:solidFill>
              </a:rPr>
              <a:t>(co-director of LADAL)</a:t>
            </a:r>
            <a:endParaRPr sz="1500" dirty="0">
              <a:solidFill>
                <a:srgbClr val="999490"/>
              </a:solidFill>
            </a:endParaRPr>
          </a:p>
        </p:txBody>
      </p:sp>
      <p:pic>
        <p:nvPicPr>
          <p:cNvPr id="712" name="Google Shape;71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7074" y="4022778"/>
            <a:ext cx="1442351" cy="21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1"/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2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646974" y="1716225"/>
            <a:ext cx="9278421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What does LADAL offer?</a:t>
            </a:r>
            <a:endParaRPr sz="2020" b="1" dirty="0"/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de-DE" sz="2020" dirty="0" err="1"/>
              <a:t>Provides</a:t>
            </a:r>
            <a:r>
              <a:rPr lang="de-DE" sz="2020" dirty="0"/>
              <a:t> </a:t>
            </a:r>
            <a:r>
              <a:rPr lang="de-DE" sz="2020" dirty="0" err="1"/>
              <a:t>free</a:t>
            </a:r>
            <a:r>
              <a:rPr lang="de-DE" sz="2020" dirty="0"/>
              <a:t> </a:t>
            </a:r>
            <a:r>
              <a:rPr lang="de-DE" sz="2020" dirty="0" err="1"/>
              <a:t>resources</a:t>
            </a:r>
            <a:r>
              <a:rPr lang="de-DE" sz="2020" dirty="0"/>
              <a:t> (</a:t>
            </a:r>
            <a:r>
              <a:rPr lang="de-DE" sz="2020" dirty="0" err="1"/>
              <a:t>notebooks</a:t>
            </a:r>
            <a:r>
              <a:rPr lang="de-DE" sz="2020" dirty="0"/>
              <a:t>) on</a:t>
            </a:r>
            <a:endParaRPr sz="2020" dirty="0"/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Digital tools (R | RStudio) and </a:t>
            </a:r>
            <a:r>
              <a:rPr lang="en-AU" sz="2020" b="1" dirty="0"/>
              <a:t>data management</a:t>
            </a:r>
            <a:endParaRPr sz="2020" b="1" dirty="0"/>
          </a:p>
          <a:p>
            <a:pPr marL="457200" marR="0" lvl="0" indent="-2981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95"/>
              <a:buChar char="•"/>
            </a:pPr>
            <a:r>
              <a:rPr lang="en-AU" sz="2020" b="1" dirty="0"/>
              <a:t>Computational methods</a:t>
            </a:r>
            <a:r>
              <a:rPr lang="en-AU" sz="2020" dirty="0"/>
              <a:t> and (basic) </a:t>
            </a:r>
            <a:r>
              <a:rPr lang="en-AU" sz="2020" b="1" dirty="0"/>
              <a:t>programming </a:t>
            </a:r>
            <a:r>
              <a:rPr lang="en-AU" sz="2020" dirty="0"/>
              <a:t>skills</a:t>
            </a:r>
            <a:endParaRPr sz="2020" dirty="0"/>
          </a:p>
          <a:p>
            <a:pPr marL="457200" marR="0" lvl="0" indent="-2981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95"/>
              <a:buChar char="•"/>
            </a:pPr>
            <a:r>
              <a:rPr lang="en-AU" sz="2020" b="1" dirty="0"/>
              <a:t>Data </a:t>
            </a:r>
            <a:r>
              <a:rPr lang="en-AU" sz="2020" dirty="0"/>
              <a:t>extraction / transformation / processing</a:t>
            </a:r>
            <a:endParaRPr sz="2020" dirty="0"/>
          </a:p>
          <a:p>
            <a:pPr marL="457200" marR="0" lvl="0" indent="-2981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Data </a:t>
            </a:r>
            <a:r>
              <a:rPr lang="en-AU" sz="2020" b="1" dirty="0"/>
              <a:t>visualization </a:t>
            </a:r>
            <a:r>
              <a:rPr lang="en-AU" sz="2020" dirty="0"/>
              <a:t>(including geospatial mapping </a:t>
            </a:r>
            <a:br>
              <a:rPr lang="en-AU" sz="2020" dirty="0"/>
            </a:br>
            <a:r>
              <a:rPr lang="en-AU" sz="2020" dirty="0"/>
              <a:t>and interactive web apps)</a:t>
            </a:r>
            <a:endParaRPr sz="2020" dirty="0"/>
          </a:p>
          <a:p>
            <a:pPr marL="457200" lvl="0" indent="-2981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95"/>
              <a:buChar char="•"/>
            </a:pPr>
            <a:r>
              <a:rPr lang="en-AU" sz="2020" b="1" dirty="0"/>
              <a:t>NLP </a:t>
            </a:r>
            <a:r>
              <a:rPr lang="en-AU" sz="2020" dirty="0"/>
              <a:t>applications and </a:t>
            </a:r>
            <a:r>
              <a:rPr lang="en-AU" sz="2020" b="1" dirty="0"/>
              <a:t>text analytics </a:t>
            </a:r>
          </a:p>
          <a:p>
            <a:pPr marL="457200" lvl="0" indent="-2981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Various </a:t>
            </a:r>
            <a:r>
              <a:rPr lang="en-AU" sz="2020" b="1" dirty="0"/>
              <a:t>statistical</a:t>
            </a:r>
            <a:r>
              <a:rPr lang="en-AU" sz="2020" dirty="0"/>
              <a:t> procedures (including classification and </a:t>
            </a:r>
            <a:br>
              <a:rPr lang="en-AU" sz="2020" dirty="0"/>
            </a:br>
            <a:r>
              <a:rPr lang="en-AU" sz="2020" b="1" dirty="0"/>
              <a:t>machine learning</a:t>
            </a:r>
            <a:r>
              <a:rPr lang="en-AU" sz="2020" dirty="0"/>
              <a:t>)</a:t>
            </a:r>
            <a:endParaRPr sz="2020" dirty="0"/>
          </a:p>
        </p:txBody>
      </p:sp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  <p:pic>
        <p:nvPicPr>
          <p:cNvPr id="702" name="Google Shape;702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62" y="5488483"/>
            <a:ext cx="1244675" cy="12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85502" y="1483962"/>
            <a:ext cx="3442936" cy="297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67515" y="4590716"/>
            <a:ext cx="2124485" cy="216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5593" y="4099951"/>
            <a:ext cx="1980574" cy="128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1477975"/>
            <a:ext cx="1980574" cy="15114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3;p61">
            <a:extLst>
              <a:ext uri="{FF2B5EF4-FFF2-40B4-BE49-F238E27FC236}">
                <a16:creationId xmlns:a16="http://schemas.microsoft.com/office/drawing/2014/main" id="{3FD83C3B-6E93-D1E3-1172-6138A10D3951}"/>
              </a:ext>
            </a:extLst>
          </p:cNvPr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8" name="Google Shape;698;p61">
            <a:extLst>
              <a:ext uri="{FF2B5EF4-FFF2-40B4-BE49-F238E27FC236}">
                <a16:creationId xmlns:a16="http://schemas.microsoft.com/office/drawing/2014/main" id="{37CB9BAE-1E43-6696-5757-B81583B84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39149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8D503C-E122-FDF8-CBB2-68C8D95B8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670" y="1339058"/>
            <a:ext cx="2088708" cy="1565610"/>
          </a:xfrm>
          <a:prstGeom prst="rect">
            <a:avLst/>
          </a:prstGeom>
        </p:spPr>
      </p:pic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646975" y="1716225"/>
            <a:ext cx="10524624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International Collaborations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/>
              <a:t>Text Crunching </a:t>
            </a:r>
            <a:r>
              <a:rPr lang="en-AU" sz="2020" dirty="0" err="1"/>
              <a:t>Center</a:t>
            </a:r>
            <a:r>
              <a:rPr lang="en-AU" sz="2020" dirty="0"/>
              <a:t> (TCC) at UZH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 err="1"/>
              <a:t>Varieng</a:t>
            </a:r>
            <a:r>
              <a:rPr lang="en-AU" sz="2020" dirty="0"/>
              <a:t> at </a:t>
            </a:r>
            <a:r>
              <a:rPr lang="en-AU" sz="2020" dirty="0" err="1"/>
              <a:t>UHel</a:t>
            </a:r>
            <a:endParaRPr lang="en-AU" sz="2020" dirty="0"/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 err="1"/>
              <a:t>Syney</a:t>
            </a:r>
            <a:r>
              <a:rPr lang="en-AU" sz="2020" dirty="0"/>
              <a:t> Corpus Lab</a:t>
            </a:r>
          </a:p>
          <a:p>
            <a:pPr marL="342900" lvl="0" indent="-3429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 panose="020B0604020202020204" pitchFamily="34" charset="0"/>
              <a:buChar char="•"/>
            </a:pPr>
            <a:r>
              <a:rPr lang="en-AU" sz="2020" dirty="0" err="1"/>
              <a:t>AcqVA</a:t>
            </a:r>
            <a:r>
              <a:rPr lang="en-AU" sz="2020" dirty="0"/>
              <a:t> Aurora at </a:t>
            </a:r>
            <a:r>
              <a:rPr lang="en-AU" sz="2020" dirty="0" err="1"/>
              <a:t>UiT</a:t>
            </a:r>
            <a:endParaRPr lang="en-AU" sz="2020" dirty="0"/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</a:pPr>
            <a:r>
              <a:rPr lang="en-AU" sz="2020" dirty="0"/>
              <a:t>(sharing of resources, reciprocal promotion, and assistance)</a:t>
            </a:r>
            <a:endParaRPr sz="2020" dirty="0"/>
          </a:p>
        </p:txBody>
      </p:sp>
      <p:pic>
        <p:nvPicPr>
          <p:cNvPr id="699" name="Google Shape;699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8820" y="1548967"/>
            <a:ext cx="4867102" cy="192338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  <p:sp>
        <p:nvSpPr>
          <p:cNvPr id="2" name="Google Shape;713;p61">
            <a:extLst>
              <a:ext uri="{FF2B5EF4-FFF2-40B4-BE49-F238E27FC236}">
                <a16:creationId xmlns:a16="http://schemas.microsoft.com/office/drawing/2014/main" id="{64EB1FEE-D585-C84E-608E-3185CBECE914}"/>
              </a:ext>
            </a:extLst>
          </p:cNvPr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2637C-07E1-630D-29AA-B99EBA8F3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431" y="4543367"/>
            <a:ext cx="3513395" cy="1947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C0206E-BB1C-AFCC-8FD7-1D55EA1E6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H="1" flipV="1">
            <a:off x="4432520" y="3092777"/>
            <a:ext cx="3921238" cy="13669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106F7E-1327-5962-D479-C48FA1AA7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382" y="5022454"/>
            <a:ext cx="4727171" cy="1820790"/>
          </a:xfrm>
          <a:prstGeom prst="rect">
            <a:avLst/>
          </a:prstGeom>
        </p:spPr>
      </p:pic>
      <p:sp>
        <p:nvSpPr>
          <p:cNvPr id="16" name="Google Shape;698;p61">
            <a:extLst>
              <a:ext uri="{FF2B5EF4-FFF2-40B4-BE49-F238E27FC236}">
                <a16:creationId xmlns:a16="http://schemas.microsoft.com/office/drawing/2014/main" id="{63C911F0-A63A-0BAE-63B9-F01D048CE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063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2"/>
          <p:cNvSpPr txBox="1">
            <a:spLocks noGrp="1"/>
          </p:cNvSpPr>
          <p:nvPr>
            <p:ph type="body" idx="1"/>
          </p:nvPr>
        </p:nvSpPr>
        <p:spPr>
          <a:xfrm>
            <a:off x="646975" y="1716225"/>
            <a:ext cx="10849800" cy="4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What we hope to achieve?</a:t>
            </a:r>
            <a:endParaRPr sz="2020" b="1" dirty="0"/>
          </a:p>
          <a:p>
            <a:pPr marL="457200" lvl="0" indent="-298132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b="1" dirty="0"/>
              <a:t>Improve transparency and quality</a:t>
            </a:r>
            <a:r>
              <a:rPr lang="en-AU" sz="2020" dirty="0"/>
              <a:t> by showcasing how </a:t>
            </a:r>
            <a:br>
              <a:rPr lang="en-AU" sz="2020" dirty="0"/>
            </a:br>
            <a:r>
              <a:rPr lang="en-AU" sz="2020" dirty="0"/>
              <a:t>to produce reproducible workflows in R/RStudio)</a:t>
            </a:r>
            <a:endParaRPr sz="2020" b="1" dirty="0"/>
          </a:p>
          <a:p>
            <a:pPr marL="457200" marR="0" lvl="0" indent="-298132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Enable researchers to pursue</a:t>
            </a:r>
            <a:r>
              <a:rPr lang="en-AU" sz="2020" b="1" dirty="0"/>
              <a:t> new pathways </a:t>
            </a:r>
            <a:r>
              <a:rPr lang="en-AU" sz="2020" dirty="0"/>
              <a:t>by using </a:t>
            </a:r>
            <a:br>
              <a:rPr lang="en-AU" sz="2020" dirty="0"/>
            </a:br>
            <a:r>
              <a:rPr lang="en-AU" sz="2020" dirty="0"/>
              <a:t>innovative methods and new types of data</a:t>
            </a:r>
            <a:endParaRPr sz="2020" dirty="0"/>
          </a:p>
          <a:p>
            <a:pPr marL="457200" marR="0" lvl="0" indent="-298132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Improve </a:t>
            </a:r>
            <a:r>
              <a:rPr lang="en-AU" sz="2020" b="1" dirty="0"/>
              <a:t>data management,</a:t>
            </a:r>
            <a:r>
              <a:rPr lang="en-AU" sz="2020" dirty="0"/>
              <a:t> assist in making workflows </a:t>
            </a:r>
            <a:br>
              <a:rPr lang="en-AU" sz="2020" dirty="0"/>
            </a:br>
            <a:r>
              <a:rPr lang="en-AU" sz="2020" b="1" dirty="0"/>
              <a:t>tidier</a:t>
            </a:r>
            <a:r>
              <a:rPr lang="en-AU" sz="2020" dirty="0"/>
              <a:t>, more </a:t>
            </a:r>
            <a:r>
              <a:rPr lang="en-AU" sz="2020" b="1" dirty="0"/>
              <a:t>transparent </a:t>
            </a:r>
            <a:r>
              <a:rPr lang="en-AU" sz="2020" dirty="0"/>
              <a:t>and </a:t>
            </a:r>
            <a:r>
              <a:rPr lang="en-AU" sz="2020" b="1" dirty="0"/>
              <a:t>more efficient</a:t>
            </a:r>
            <a:r>
              <a:rPr lang="en-AU" sz="2020" dirty="0"/>
              <a:t>.</a:t>
            </a:r>
            <a:endParaRPr sz="2020" dirty="0"/>
          </a:p>
          <a:p>
            <a:pPr marL="457200" lvl="0" indent="-298132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Provide an </a:t>
            </a:r>
            <a:r>
              <a:rPr lang="en-AU" sz="2020" b="1" dirty="0"/>
              <a:t>infrastructure for acquiring computational </a:t>
            </a:r>
            <a:br>
              <a:rPr lang="en-AU" sz="2020" b="1" dirty="0"/>
            </a:br>
            <a:r>
              <a:rPr lang="en-AU" sz="2020" b="1" dirty="0"/>
              <a:t>skills</a:t>
            </a:r>
            <a:r>
              <a:rPr lang="en-AU" sz="2020" dirty="0"/>
              <a:t> (relevant for academia | employability for graduates)</a:t>
            </a:r>
            <a:endParaRPr sz="2020" dirty="0"/>
          </a:p>
          <a:p>
            <a:pPr marL="457200" lvl="0" indent="-35687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2020"/>
              <a:buChar char="•"/>
            </a:pPr>
            <a:r>
              <a:rPr lang="en-AU" sz="2020" dirty="0"/>
              <a:t>Showcase </a:t>
            </a:r>
            <a:r>
              <a:rPr lang="en-AU" sz="2020" b="1" dirty="0"/>
              <a:t>comp. methods can be used across HASS disciplines</a:t>
            </a:r>
            <a:endParaRPr sz="2020" b="1" dirty="0"/>
          </a:p>
        </p:txBody>
      </p:sp>
      <p:pic>
        <p:nvPicPr>
          <p:cNvPr id="721" name="Google Shape;72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1450" y="1918375"/>
            <a:ext cx="4101749" cy="27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2"/>
          <p:cNvSpPr txBox="1"/>
          <p:nvPr/>
        </p:nvSpPr>
        <p:spPr>
          <a:xfrm>
            <a:off x="6643950" y="1518175"/>
            <a:ext cx="550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solidFill>
                  <a:schemeClr val="accent1"/>
                </a:solidFill>
              </a:rPr>
              <a:t>Distribution of topics in US State of the Union Addresses over time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24" name="Google Shape;724;p6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  <p:pic>
        <p:nvPicPr>
          <p:cNvPr id="725" name="Google Shape;725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87432" y="4760750"/>
            <a:ext cx="2857043" cy="20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2"/>
          <p:cNvSpPr txBox="1"/>
          <p:nvPr/>
        </p:nvSpPr>
        <p:spPr>
          <a:xfrm>
            <a:off x="7475749" y="4495792"/>
            <a:ext cx="46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solidFill>
                  <a:schemeClr val="accent1"/>
                </a:solidFill>
              </a:rPr>
              <a:t>Network of persons in Shakespeare’s Romeo and Juliet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Google Shape;713;p61">
            <a:extLst>
              <a:ext uri="{FF2B5EF4-FFF2-40B4-BE49-F238E27FC236}">
                <a16:creationId xmlns:a16="http://schemas.microsoft.com/office/drawing/2014/main" id="{DF7679D2-C148-1AFD-B297-9C6C657076A1}"/>
              </a:ext>
            </a:extLst>
          </p:cNvPr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8" name="Google Shape;698;p61">
            <a:extLst>
              <a:ext uri="{FF2B5EF4-FFF2-40B4-BE49-F238E27FC236}">
                <a16:creationId xmlns:a16="http://schemas.microsoft.com/office/drawing/2014/main" id="{5FCB2742-8265-5524-E959-A5C54FE56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75579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646975" y="1724534"/>
            <a:ext cx="9278421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Key measure so far:</a:t>
            </a:r>
            <a:endParaRPr sz="2020" b="1" dirty="0"/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40 tutorials, case studies, and how-</a:t>
            </a:r>
            <a:r>
              <a:rPr lang="en-AU" sz="2020" dirty="0" err="1"/>
              <a:t>tos</a:t>
            </a:r>
            <a:r>
              <a:rPr lang="en-AU" sz="2020" dirty="0"/>
              <a:t> 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15 interactive </a:t>
            </a:r>
            <a:r>
              <a:rPr lang="en-AU" sz="2020" dirty="0" err="1"/>
              <a:t>Jupyter</a:t>
            </a:r>
            <a:r>
              <a:rPr lang="en-AU" sz="2020" dirty="0"/>
              <a:t> notebooks</a:t>
            </a:r>
            <a:br>
              <a:rPr lang="en-AU" sz="2020" dirty="0"/>
            </a:br>
            <a:r>
              <a:rPr lang="en-AU" sz="2020" dirty="0"/>
              <a:t>(on Binder.org and Google </a:t>
            </a:r>
            <a:r>
              <a:rPr lang="en-AU" sz="2020" dirty="0" err="1"/>
              <a:t>Colab</a:t>
            </a:r>
            <a:r>
              <a:rPr lang="en-AU" sz="2020" dirty="0"/>
              <a:t>)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More than </a:t>
            </a:r>
            <a:r>
              <a:rPr lang="en-AU" sz="2020" b="1" dirty="0"/>
              <a:t>450,000 page views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More than </a:t>
            </a:r>
            <a:r>
              <a:rPr lang="en-AU" sz="2020" b="1" dirty="0"/>
              <a:t>250,000 different users 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LADAL resources used </a:t>
            </a:r>
            <a:r>
              <a:rPr lang="en-AU" sz="2020" b="1" dirty="0"/>
              <a:t>all around the world </a:t>
            </a:r>
            <a:r>
              <a:rPr lang="en-AU" sz="2020" dirty="0"/>
              <a:t>(from university courses on quantitative methods in Norway to dashboards for medical school in California) </a:t>
            </a:r>
            <a:r>
              <a:rPr lang="en-AU" sz="2020" b="1" dirty="0"/>
              <a:t>by diverse users from various fields </a:t>
            </a:r>
            <a:r>
              <a:rPr lang="en-AU" sz="2020" dirty="0"/>
              <a:t>(from linguists to psychologists to artists)</a:t>
            </a:r>
          </a:p>
        </p:txBody>
      </p:sp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</a:t>
            </a:fld>
            <a:endParaRPr/>
          </a:p>
        </p:txBody>
      </p:sp>
      <p:pic>
        <p:nvPicPr>
          <p:cNvPr id="706" name="Google Shape;706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47831" y="4667969"/>
            <a:ext cx="2403243" cy="166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0107" y="2137614"/>
            <a:ext cx="3330638" cy="2154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8173" y="1348867"/>
            <a:ext cx="2748742" cy="185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3;p61">
            <a:extLst>
              <a:ext uri="{FF2B5EF4-FFF2-40B4-BE49-F238E27FC236}">
                <a16:creationId xmlns:a16="http://schemas.microsoft.com/office/drawing/2014/main" id="{3FD83C3B-6E93-D1E3-1172-6138A10D3951}"/>
              </a:ext>
            </a:extLst>
          </p:cNvPr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Google Shape;698;p61">
            <a:extLst>
              <a:ext uri="{FF2B5EF4-FFF2-40B4-BE49-F238E27FC236}">
                <a16:creationId xmlns:a16="http://schemas.microsoft.com/office/drawing/2014/main" id="{4A26CCED-B0DF-C475-0F7E-350D71160C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0989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"/>
          <p:cNvSpPr txBox="1">
            <a:spLocks noGrp="1"/>
          </p:cNvSpPr>
          <p:nvPr>
            <p:ph type="body" idx="1"/>
          </p:nvPr>
        </p:nvSpPr>
        <p:spPr>
          <a:xfrm>
            <a:off x="646975" y="1724534"/>
            <a:ext cx="9278421" cy="4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65"/>
              <a:buNone/>
            </a:pPr>
            <a:r>
              <a:rPr lang="en-AU" sz="2020" b="1" dirty="0"/>
              <a:t>PRACTICE</a:t>
            </a:r>
            <a:endParaRPr sz="2020" b="1" dirty="0"/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Go to </a:t>
            </a:r>
            <a:r>
              <a:rPr lang="en-AU" sz="2020" b="1" dirty="0"/>
              <a:t>ladal.edu.au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Click on the tab </a:t>
            </a:r>
            <a:r>
              <a:rPr lang="en-AU" sz="2020" b="1" dirty="0"/>
              <a:t>TUTORIALS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Go to </a:t>
            </a:r>
            <a:r>
              <a:rPr lang="en-AU" sz="2020" b="1" dirty="0"/>
              <a:t>Text Analysis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2020" dirty="0"/>
              <a:t>Click on </a:t>
            </a:r>
            <a:r>
              <a:rPr lang="en-AU" sz="1600" b="1" dirty="0"/>
              <a:t>Practical Overview of Selected Text Analytics Methods</a:t>
            </a:r>
          </a:p>
          <a:p>
            <a:pPr marL="457200" marR="0" lvl="0" indent="-298132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95"/>
              <a:buChar char="•"/>
            </a:pPr>
            <a:r>
              <a:rPr lang="en-AU" sz="1600" b="1" dirty="0"/>
              <a:t>Click on the Binder.org link</a:t>
            </a:r>
            <a:endParaRPr lang="en-AU" sz="2020" dirty="0"/>
          </a:p>
        </p:txBody>
      </p:sp>
      <p:sp>
        <p:nvSpPr>
          <p:cNvPr id="701" name="Google Shape;701;p6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  <p:sp>
        <p:nvSpPr>
          <p:cNvPr id="5" name="Google Shape;713;p61">
            <a:extLst>
              <a:ext uri="{FF2B5EF4-FFF2-40B4-BE49-F238E27FC236}">
                <a16:creationId xmlns:a16="http://schemas.microsoft.com/office/drawing/2014/main" id="{3FD83C3B-6E93-D1E3-1172-6138A10D3951}"/>
              </a:ext>
            </a:extLst>
          </p:cNvPr>
          <p:cNvSpPr txBox="1"/>
          <p:nvPr/>
        </p:nvSpPr>
        <p:spPr>
          <a:xfrm>
            <a:off x="646975" y="1348867"/>
            <a:ext cx="2899296" cy="400200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>
                <a:solidFill>
                  <a:schemeClr val="accent1"/>
                </a:solidFill>
              </a:rPr>
              <a:t>LADAL: https://ladal.edu.au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Google Shape;698;p61">
            <a:extLst>
              <a:ext uri="{FF2B5EF4-FFF2-40B4-BE49-F238E27FC236}">
                <a16:creationId xmlns:a16="http://schemas.microsoft.com/office/drawing/2014/main" id="{4A26CCED-B0DF-C475-0F7E-350D71160C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6" y="879667"/>
            <a:ext cx="11304099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r>
              <a:rPr lang="en-AU" b="1" dirty="0"/>
              <a:t>Language Technology and Data Analysis Laboratory (LADAL)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AC0696-705D-439A-A856-B405AF4E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88" y="2612379"/>
            <a:ext cx="4363016" cy="1766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60738-DBAB-4C31-9DD7-74F715D57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595" y="4441535"/>
            <a:ext cx="8040222" cy="226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C6652-27F3-491F-976D-237CE8FB6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776" y="1409165"/>
            <a:ext cx="4448112" cy="151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2884"/>
      </p:ext>
    </p:extLst>
  </p:cSld>
  <p:clrMapOvr>
    <a:masterClrMapping/>
  </p:clrMapOvr>
</p:sld>
</file>

<file path=ppt/theme/theme1.xml><?xml version="1.0" encoding="utf-8"?>
<a:theme xmlns:a="http://schemas.openxmlformats.org/drawingml/2006/main" name="4_University of Queensland">
  <a:themeElements>
    <a:clrScheme name="UQ PP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247A"/>
      </a:accent1>
      <a:accent2>
        <a:srgbClr val="E62645"/>
      </a:accent2>
      <a:accent3>
        <a:srgbClr val="00A2C7"/>
      </a:accent3>
      <a:accent4>
        <a:srgbClr val="EB602B"/>
      </a:accent4>
      <a:accent5>
        <a:srgbClr val="4085C6"/>
      </a:accent5>
      <a:accent6>
        <a:srgbClr val="2EA836"/>
      </a:accent6>
      <a:hlink>
        <a:srgbClr val="00A2C7"/>
      </a:hlink>
      <a:folHlink>
        <a:srgbClr val="00A2C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681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Noto Sans Symbols</vt:lpstr>
      <vt:lpstr>4_University of Queensland</vt:lpstr>
      <vt:lpstr>PowerPoint Presentation</vt:lpstr>
      <vt:lpstr>PowerPoint Presentation</vt:lpstr>
      <vt:lpstr>Language Technology and Data Analysis Laboratory (LADAL)</vt:lpstr>
      <vt:lpstr>Language Technology and Data Analysis Laboratory (LADAL)</vt:lpstr>
      <vt:lpstr>Language Technology and Data Analysis Laboratory (LADAL)</vt:lpstr>
      <vt:lpstr>Language Technology and Data Analysis Laboratory (LADAL)</vt:lpstr>
      <vt:lpstr>Language Technology and Data Analysis Laboratory (LADAL)</vt:lpstr>
      <vt:lpstr>Language Technology and Data Analysis Laboratory (LADAL)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Schweinberger</dc:creator>
  <cp:lastModifiedBy>Martin Schweinberger</cp:lastModifiedBy>
  <cp:revision>28</cp:revision>
  <cp:lastPrinted>2022-10-25T04:20:18Z</cp:lastPrinted>
  <dcterms:modified xsi:type="dcterms:W3CDTF">2023-04-09T10:54:04Z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2023-04-03T13:06:59Z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c0e2ab6a-4b8f-41b5-8cef-0742e38ce35e</vt:lpwstr>
  </property>
  <property fmtid="{D5CDD505-2E9C-101B-9397-08002B2CF9AE}" pid="8" name="MSIP_Label_0f488380-630a-4f55-a077-a19445e3f360_ContentBits">
    <vt:lpwstr>0</vt:lpwstr>
  </property>
</Properties>
</file>